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1" r:id="rId9"/>
    <p:sldId id="21474704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AccessGov - </a:t>
            </a: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An AI-Powered Assistive Platform for Accessing and Navigating Government Services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Rahi Sanxipt Mehta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 descr="LTM Limited logo (transparent PNG)">
            <a:extLst>
              <a:ext uri="{FF2B5EF4-FFF2-40B4-BE49-F238E27FC236}">
                <a16:creationId xmlns:a16="http://schemas.microsoft.com/office/drawing/2014/main" id="{4130594E-6B5C-A6BA-3ABE-A7992F146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0" y="5883180"/>
            <a:ext cx="3180375" cy="84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Government services often involve complex procedures, lengthy documents, fragmented information, and difficult terminology.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This makes them challenging for citizens to understand and navigate, especially for those with accessibility or information-literacy barriers.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I am addressing this by building a RAG-based model to retrieve relevant information, then simplifying and organizing it using an LLM to make authoritative government data clear and accessible.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2792361" y="57036"/>
            <a:ext cx="9399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b="1" i="1" dirty="0">
                <a:solidFill>
                  <a:srgbClr val="FFFFFF"/>
                </a:solidFill>
              </a:rPr>
              <a:t>AccessGov: An AI-Powered Assistive Platform for Accessing and Navigating Government Services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Build an authoritative government knowledge base extracted from official sources. 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Develop a RAG-based information assistant for semantic retrieval. 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Make complex government information and procedures highly accessible. </a:t>
            </a:r>
          </a:p>
          <a:p>
            <a:pPr>
              <a:lnSpc>
                <a:spcPct val="100000"/>
              </a:lnSpc>
            </a:pPr>
            <a:r>
              <a:rPr lang="en-GB" b="0" dirty="0">
                <a:solidFill>
                  <a:srgbClr val="5583D1"/>
                </a:solidFill>
                <a:latin typeface="+mn-lt"/>
              </a:rPr>
              <a:t>Help users seamlessly navigate and complete bureaucratic procedures step-by-step.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dirty="0">
                <a:solidFill>
                  <a:srgbClr val="5583D1"/>
                </a:solidFill>
                <a:latin typeface="+mn-lt"/>
              </a:rPr>
              <a:t>System Capabilities: 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A web application where users can ask questions in natural language, find relevant government services, and identify required documents. 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rgbClr val="5583D1"/>
                </a:solidFill>
                <a:latin typeface="+mn-lt"/>
              </a:rPr>
              <a:t>Accessibility Focus: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Convert complex bureaucratic processes into an understandable, accessible form with strict source citations. 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rgbClr val="5583D1"/>
                </a:solidFill>
                <a:latin typeface="+mn-lt"/>
              </a:rPr>
              <a:t>Exclusions:</a:t>
            </a:r>
            <a:r>
              <a:rPr lang="en-GB" b="0" dirty="0">
                <a:solidFill>
                  <a:srgbClr val="5583D1"/>
                </a:solidFill>
                <a:latin typeface="+mn-lt"/>
              </a:rPr>
              <a:t> The system acts as an assistive information guide and will not directly process or submit legal applications on behalf of the user.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Existing Portals: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Current e-governance portals rely on rigid keyword searches and fragmented PDFs, making discovery difficult.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RAG in Legal/Bureaucratic Contexts: 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Recent implementations of Retrieval-Augmented Generation (RAG) show high accuracy in parsing complex domain-specific documents (e.g., PyMuPDF + LangChain). </a:t>
            </a:r>
          </a:p>
          <a:p>
            <a:pPr>
              <a:lnSpc>
                <a:spcPct val="10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L</a:t>
            </a:r>
            <a:r>
              <a:rPr lang="en-US" dirty="0">
                <a:solidFill>
                  <a:srgbClr val="5583D1"/>
                </a:solidFill>
                <a:latin typeface="+mn-lt"/>
              </a:rPr>
              <a:t>LM Simplification: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Open-source models like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LLaMA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3 effectively summarize and simplify dense jargon into plain language.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Current systems lack AI-driven semantic search and contextual summarization. </a:t>
            </a:r>
          </a:p>
          <a:p>
            <a:pPr>
              <a:lnSpc>
                <a:spcPct val="10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There is a proven gap in accessibility for citizens trying to understand procedural requirements. </a:t>
            </a:r>
          </a:p>
          <a:p>
            <a:pPr>
              <a:lnSpc>
                <a:spcPct val="100000"/>
              </a:lnSpc>
            </a:pPr>
            <a:r>
              <a:rPr lang="en-US" b="0" dirty="0">
                <a:solidFill>
                  <a:srgbClr val="5583D1"/>
                </a:solidFill>
                <a:latin typeface="+mn-lt"/>
              </a:rPr>
              <a:t>Combining Hybrid Retrieval (BM25 + dense retrieval) with Reranking (cross-encoder) significantly improves information accuracy over traditional search engines.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Core Tech Stack: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LangChain (RAG), Ollama + Llama 3.18,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ChromaDB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(Vector Store),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FastAPI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(Backend), Streamlit (Frontend).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Storage &amp; DevOps: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PostgreSQL,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MinIO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, Docker Compose, </a:t>
            </a:r>
            <a:r>
              <a:rPr lang="en-US" b="0" dirty="0" err="1">
                <a:solidFill>
                  <a:srgbClr val="5583D1"/>
                </a:solidFill>
                <a:latin typeface="+mn-lt"/>
              </a:rPr>
              <a:t>MLflow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(Tracking), GitHub Actions. 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5583D1"/>
                </a:solidFill>
                <a:latin typeface="+mn-lt"/>
              </a:rPr>
              <a:t>Dataset:</a:t>
            </a:r>
            <a:r>
              <a:rPr lang="en-US" b="0" dirty="0">
                <a:solidFill>
                  <a:srgbClr val="5583D1"/>
                </a:solidFill>
                <a:latin typeface="+mn-lt"/>
              </a:rPr>
              <a:t> Knowledge base built by extracting data from government sources + a synthetic database to simulate real user questions for evaluation (Ragas).</a:t>
            </a:r>
            <a:endParaRPr lang="en-US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Additional Information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Calibri (Body)"/>
              </a:rPr>
              <a:t>Module 1:</a:t>
            </a:r>
            <a:r>
              <a:rPr lang="en-US" b="0" dirty="0">
                <a:solidFill>
                  <a:srgbClr val="5583D1"/>
                </a:solidFill>
                <a:latin typeface="Calibri (Body)"/>
              </a:rPr>
              <a:t> Document Parsing and Knowledge Base Construction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Calibri (Body)"/>
              </a:rPr>
              <a:t>Module 2:</a:t>
            </a:r>
            <a:r>
              <a:rPr lang="en-US" b="0" dirty="0">
                <a:solidFill>
                  <a:srgbClr val="5583D1"/>
                </a:solidFill>
                <a:latin typeface="Calibri (Body)"/>
              </a:rPr>
              <a:t> RAG Pipeline Setup (Retrieval &amp; Reranking)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Calibri (Body)"/>
              </a:rPr>
              <a:t>Module 3:</a:t>
            </a:r>
            <a:r>
              <a:rPr lang="en-US" b="0" dirty="0">
                <a:solidFill>
                  <a:srgbClr val="5583D1"/>
                </a:solidFill>
                <a:latin typeface="Calibri (Body)"/>
              </a:rPr>
              <a:t> API Development and Frontend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733489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5583D1"/>
                </a:solidFill>
                <a:latin typeface="+mn-lt"/>
              </a:rPr>
              <a:t>Subtopic - Data Extraction &amp; Vectorization</a:t>
            </a:r>
          </a:p>
          <a:p>
            <a:pPr lvl="1"/>
            <a:r>
              <a:rPr lang="en-US" sz="2800" dirty="0">
                <a:solidFill>
                  <a:srgbClr val="1C3898"/>
                </a:solidFill>
              </a:rPr>
              <a:t>Extracting textual data from official government PDFs using PyMuPDF and python-docx. </a:t>
            </a:r>
          </a:p>
          <a:p>
            <a:pPr lvl="1"/>
            <a:r>
              <a:rPr lang="en-US" sz="2800" dirty="0">
                <a:solidFill>
                  <a:srgbClr val="1C3898"/>
                </a:solidFill>
              </a:rPr>
              <a:t>Chunking text using </a:t>
            </a:r>
            <a:r>
              <a:rPr lang="en-US" sz="2800" dirty="0" err="1">
                <a:solidFill>
                  <a:srgbClr val="1C3898"/>
                </a:solidFill>
              </a:rPr>
              <a:t>LangChain's</a:t>
            </a:r>
            <a:r>
              <a:rPr lang="en-US" sz="2800" dirty="0">
                <a:solidFill>
                  <a:srgbClr val="1C3898"/>
                </a:solidFill>
              </a:rPr>
              <a:t> </a:t>
            </a:r>
            <a:r>
              <a:rPr lang="en-US" sz="2800" dirty="0" err="1">
                <a:solidFill>
                  <a:srgbClr val="1C3898"/>
                </a:solidFill>
              </a:rPr>
              <a:t>RecursiveCharacterTextSplitter</a:t>
            </a:r>
            <a:r>
              <a:rPr lang="en-US" sz="2800" dirty="0">
                <a:solidFill>
                  <a:srgbClr val="1C3898"/>
                </a:solidFill>
              </a:rPr>
              <a:t>. Generating embeddings and storing them in </a:t>
            </a:r>
            <a:r>
              <a:rPr lang="en-US" sz="2800" dirty="0" err="1">
                <a:solidFill>
                  <a:srgbClr val="1C3898"/>
                </a:solidFill>
              </a:rPr>
              <a:t>ChromaDB</a:t>
            </a:r>
            <a:r>
              <a:rPr lang="en-US" sz="2800" dirty="0">
                <a:solidFill>
                  <a:srgbClr val="1C3898"/>
                </a:solidFill>
              </a:rPr>
              <a:t>. </a:t>
            </a:r>
          </a:p>
          <a:p>
            <a:pPr lvl="1"/>
            <a:r>
              <a:rPr lang="en-US" sz="2800" dirty="0">
                <a:solidFill>
                  <a:srgbClr val="1C3898"/>
                </a:solidFill>
              </a:rPr>
              <a:t>Establishing </a:t>
            </a:r>
            <a:r>
              <a:rPr lang="en-US" sz="2800" dirty="0" err="1">
                <a:solidFill>
                  <a:srgbClr val="1C3898"/>
                </a:solidFill>
              </a:rPr>
              <a:t>MinIO</a:t>
            </a:r>
            <a:r>
              <a:rPr lang="en-US" sz="2800" dirty="0">
                <a:solidFill>
                  <a:srgbClr val="1C3898"/>
                </a:solidFill>
              </a:rPr>
              <a:t> for document storage and PostgreSQL for metadata.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name: </a:t>
            </a:r>
            <a:r>
              <a:rPr lang="en-GB" sz="3600" b="1" dirty="0">
                <a:solidFill>
                  <a:srgbClr val="5B9BD5">
                    <a:lumMod val="50000"/>
                  </a:srgbClr>
                </a:solidFill>
              </a:rPr>
              <a:t>Document Parsing &amp; Knowledge Base Construction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Project Title -  Calibri body 18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541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Rahi Sanxipt Mehta</cp:lastModifiedBy>
  <cp:revision>14</cp:revision>
  <dcterms:created xsi:type="dcterms:W3CDTF">2024-05-13T10:33:11Z</dcterms:created>
  <dcterms:modified xsi:type="dcterms:W3CDTF">2026-09-07T04:45:24Z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