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94" r:id="rId5"/>
    <p:sldId id="2147470498" r:id="rId6"/>
    <p:sldId id="2147470496" r:id="rId7"/>
    <p:sldId id="2147470497" r:id="rId8"/>
    <p:sldId id="2147470491" r:id="rId9"/>
    <p:sldId id="2147470487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2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3600" b="1" dirty="0">
                <a:solidFill>
                  <a:prstClr val="white"/>
                </a:solidFill>
                <a:cs typeface="Calibri" panose="020F0502020204030204" pitchFamily="34" charset="0"/>
              </a:rPr>
              <a:t>AccessGov - </a:t>
            </a:r>
            <a:r>
              <a:rPr lang="en-GB" sz="3600" b="1" dirty="0">
                <a:solidFill>
                  <a:prstClr val="white"/>
                </a:solidFill>
                <a:cs typeface="Calibri" panose="020F0502020204030204" pitchFamily="34" charset="0"/>
              </a:rPr>
              <a:t>An AI-Powered Assistive Platform for Accessing and Navigating Government Services</a:t>
            </a:r>
            <a:endParaRPr lang="en-US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Rahi Sanxipt Mehta</a:t>
            </a:r>
          </a:p>
          <a:p>
            <a:pPr lvl="0" algn="ctr">
              <a:defRPr/>
            </a:pPr>
            <a:endParaRPr lang="en-US" sz="5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5" name="Picture 4" descr="LTM Limited logo (transparent PNG)">
            <a:extLst>
              <a:ext uri="{FF2B5EF4-FFF2-40B4-BE49-F238E27FC236}">
                <a16:creationId xmlns:a16="http://schemas.microsoft.com/office/drawing/2014/main" id="{4130594E-6B5C-A6BA-3ABE-A7992F146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0" y="5883180"/>
            <a:ext cx="3180375" cy="847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726612-73E0-5A94-F635-3A742DD5BA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0" dirty="0">
                <a:solidFill>
                  <a:srgbClr val="5583D1"/>
                </a:solidFill>
                <a:latin typeface="+mn-lt"/>
              </a:rPr>
              <a:t>Government services often involve complex procedures, lengthy documents, fragmented information, and difficult terminology.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0" dirty="0">
                <a:solidFill>
                  <a:srgbClr val="5583D1"/>
                </a:solidFill>
                <a:latin typeface="+mn-lt"/>
              </a:rPr>
              <a:t>This makes them challenging for citizens to understand and navigate, especially for those with accessibility or information-literacy barriers.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0" dirty="0">
                <a:solidFill>
                  <a:srgbClr val="5583D1"/>
                </a:solidFill>
                <a:latin typeface="+mn-lt"/>
              </a:rPr>
              <a:t>I am addressing this by building a RAG-based model to retrieve relevant information, then simplifying and organizing it using an LLM to make authoritative government data clear and accessible.</a:t>
            </a:r>
            <a:endParaRPr lang="en-US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2792361" y="57036"/>
            <a:ext cx="9399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AccessGov: An AI-Powered Assistive Platform for Accessing and Navigating Government Services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D551BF-43EB-C049-6D3B-4D17D57752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5583D1"/>
                </a:solidFill>
                <a:latin typeface="+mn-lt"/>
              </a:rPr>
              <a:t>Build an authoritative government knowledge base extracted from official sources. </a:t>
            </a:r>
          </a:p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5583D1"/>
                </a:solidFill>
                <a:latin typeface="+mn-lt"/>
              </a:rPr>
              <a:t>Develop a RAG-based information assistant for semantic retrieval. </a:t>
            </a:r>
          </a:p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5583D1"/>
                </a:solidFill>
                <a:latin typeface="+mn-lt"/>
              </a:rPr>
              <a:t>Make complex government information and procedures highly accessible. </a:t>
            </a:r>
          </a:p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5583D1"/>
                </a:solidFill>
                <a:latin typeface="+mn-lt"/>
              </a:rPr>
              <a:t>Help users seamlessly navigate and complete bureaucratic procedures step-by-step.</a:t>
            </a:r>
            <a:endParaRPr lang="en-US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9D4532F-D1AA-E8F5-291C-8A9D0DF14799}"/>
              </a:ext>
            </a:extLst>
          </p:cNvPr>
          <p:cNvSpPr txBox="1"/>
          <p:nvPr/>
        </p:nvSpPr>
        <p:spPr>
          <a:xfrm>
            <a:off x="2792361" y="57036"/>
            <a:ext cx="9399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AccessGov: An AI-Powered Assistive Platform for Accessing and Navigating Government Services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25C8EF-A5DD-AB22-0372-51B9ABE63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GB" dirty="0">
                <a:solidFill>
                  <a:srgbClr val="5583D1"/>
                </a:solidFill>
                <a:latin typeface="+mn-lt"/>
              </a:rPr>
              <a:t>System Capabilities: </a:t>
            </a:r>
            <a:r>
              <a:rPr lang="en-GB" b="0" dirty="0">
                <a:solidFill>
                  <a:srgbClr val="5583D1"/>
                </a:solidFill>
                <a:latin typeface="+mn-lt"/>
              </a:rPr>
              <a:t>A web application where users can ask questions in natural language, find relevant government services, and identify required documents. </a:t>
            </a:r>
          </a:p>
          <a:p>
            <a:pPr>
              <a:lnSpc>
                <a:spcPct val="100000"/>
              </a:lnSpc>
            </a:pPr>
            <a:r>
              <a:rPr lang="en-GB" dirty="0">
                <a:solidFill>
                  <a:srgbClr val="5583D1"/>
                </a:solidFill>
                <a:latin typeface="+mn-lt"/>
              </a:rPr>
              <a:t>Accessibility Focus:</a:t>
            </a:r>
            <a:r>
              <a:rPr lang="en-GB" b="0" dirty="0">
                <a:solidFill>
                  <a:srgbClr val="5583D1"/>
                </a:solidFill>
                <a:latin typeface="+mn-lt"/>
              </a:rPr>
              <a:t> Convert complex bureaucratic processes into an understandable, accessible form with strict source citations. </a:t>
            </a:r>
          </a:p>
          <a:p>
            <a:pPr>
              <a:lnSpc>
                <a:spcPct val="100000"/>
              </a:lnSpc>
            </a:pPr>
            <a:r>
              <a:rPr lang="en-GB" dirty="0">
                <a:solidFill>
                  <a:srgbClr val="5583D1"/>
                </a:solidFill>
                <a:latin typeface="+mn-lt"/>
              </a:rPr>
              <a:t>Exclusions:</a:t>
            </a:r>
            <a:r>
              <a:rPr lang="en-GB" b="0" dirty="0">
                <a:solidFill>
                  <a:srgbClr val="5583D1"/>
                </a:solidFill>
                <a:latin typeface="+mn-lt"/>
              </a:rPr>
              <a:t> The system acts as an assistive information guide and will not directly process or submit legal applications on behalf of the user.</a:t>
            </a:r>
            <a:endParaRPr lang="en-US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4C21C24-4796-2D5E-0483-49ACD14B8DC2}"/>
              </a:ext>
            </a:extLst>
          </p:cNvPr>
          <p:cNvSpPr txBox="1"/>
          <p:nvPr/>
        </p:nvSpPr>
        <p:spPr>
          <a:xfrm>
            <a:off x="2792361" y="57036"/>
            <a:ext cx="9399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AccessGov: An AI-Powered Assistive Platform for Accessing and Navigating Government Services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9C03-8E92-54D7-6EE2-33DC2B5C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3663C-4C71-EB2A-170D-22878BAC4C6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1B76A7-3EE1-470C-EBA7-8F98E8FFE105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2763BE9-FEFC-27A8-4FFA-56D3AB575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2304720"/>
              </p:ext>
            </p:extLst>
          </p:nvPr>
        </p:nvGraphicFramePr>
        <p:xfrm>
          <a:off x="221274" y="1329266"/>
          <a:ext cx="11744584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72292">
                  <a:extLst>
                    <a:ext uri="{9D8B030D-6E8A-4147-A177-3AD203B41FA5}">
                      <a16:colId xmlns:a16="http://schemas.microsoft.com/office/drawing/2014/main" val="4252064122"/>
                    </a:ext>
                  </a:extLst>
                </a:gridCol>
                <a:gridCol w="5872292">
                  <a:extLst>
                    <a:ext uri="{9D8B030D-6E8A-4147-A177-3AD203B41FA5}">
                      <a16:colId xmlns:a16="http://schemas.microsoft.com/office/drawing/2014/main" val="14587417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sz="36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Paper </a:t>
                      </a:r>
                      <a:endParaRPr lang="en-IN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36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Summary</a:t>
                      </a:r>
                      <a:endParaRPr lang="en-IN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261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i="0" dirty="0"/>
                        <a:t>Bridging Citizens and Public Services with RAG (2026)</a:t>
                      </a:r>
                      <a:endParaRPr lang="en-IN" sz="18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i="0" dirty="0"/>
                        <a:t>Proves that RAG can successfully associate natural language citizen queries with complex bureaucratic services, improving portal accessibility.</a:t>
                      </a:r>
                      <a:endParaRPr lang="en-IN" sz="180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9544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Retrieval-Augmented Governance (2025)</a:t>
                      </a:r>
                      <a:endParaRPr lang="en-IN" sz="18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Highlights the need for "governance-by-design" by integrating strict audit trails and source validation to ensure AI explanations are verifiable.</a:t>
                      </a:r>
                      <a:endParaRPr lang="en-IN" sz="180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7124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Evaluating Faithfulness in Agentic RAG Systems for e-Governance (2025):</a:t>
                      </a:r>
                      <a:endParaRPr lang="en-IN" sz="18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i="0" dirty="0"/>
                        <a:t>Emphasizes hallucination mitigation in high-stakes government applications by using Agentic models and rigorous evaluation frameworks.</a:t>
                      </a:r>
                      <a:endParaRPr lang="en-IN" sz="180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6848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Resource-efficient RAG for the Indian Lok Sabha dataset (2025)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Demonstrates that RAG can effectively parse massive, unstructured Indian legislative archives to make them easily readable for the public.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3337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A5B25B6-A34E-8D66-09FC-ED9E491CFA73}"/>
              </a:ext>
            </a:extLst>
          </p:cNvPr>
          <p:cNvSpPr txBox="1"/>
          <p:nvPr/>
        </p:nvSpPr>
        <p:spPr>
          <a:xfrm>
            <a:off x="2792361" y="57036"/>
            <a:ext cx="9399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AccessGov: An AI-Powered Assistive Platform for Accessing and Navigating Government Services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532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3C69-472F-A80F-ECBC-553E043D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64AF3A-1BAA-BB19-865F-8604C4E3B8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5" y="1271219"/>
            <a:ext cx="11611539" cy="4142989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0" dirty="0">
                <a:solidFill>
                  <a:srgbClr val="5583D1"/>
                </a:solidFill>
                <a:latin typeface="Calibri (Body)"/>
                <a:ea typeface="Calibri" panose="020F0502020204030204" pitchFamily="34" charset="0"/>
              </a:rPr>
              <a:t>Current e-governance systems rely on rigid searches and dense PDFs, creating significant accessibility barriers for citizens.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0" dirty="0">
                <a:solidFill>
                  <a:srgbClr val="5583D1"/>
                </a:solidFill>
                <a:latin typeface="Calibri (Body)"/>
                <a:ea typeface="Calibri" panose="020F0502020204030204" pitchFamily="34" charset="0"/>
              </a:rPr>
              <a:t>Recent research (2025-2026) highlights a major shift toward Retrieval-Augmented Generation (RAG) to provide intuitive, conversational search capabilities for public services.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0" dirty="0">
                <a:solidFill>
                  <a:srgbClr val="5583D1"/>
                </a:solidFill>
                <a:latin typeface="Calibri (Body)"/>
                <a:ea typeface="Calibri" panose="020F0502020204030204" pitchFamily="34" charset="0"/>
              </a:rPr>
              <a:t>Because public sector accuracy is critical, studies strongly emphasize the need for robust hallucination mitigation and transparent source citations.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0" dirty="0">
                <a:solidFill>
                  <a:srgbClr val="5583D1"/>
                </a:solidFill>
                <a:latin typeface="Calibri (Body)"/>
                <a:ea typeface="Calibri" panose="020F0502020204030204" pitchFamily="34" charset="0"/>
              </a:rPr>
              <a:t>AccessGov directly aligns with these findings by delivering an accessible interface powered by a highly verifiable, citation-backed RAG pipeline.</a:t>
            </a:r>
            <a:endParaRPr lang="en-US" b="0" dirty="0">
              <a:solidFill>
                <a:srgbClr val="5583D1"/>
              </a:solidFill>
              <a:latin typeface="Calibri (Body)"/>
              <a:ea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2521A-B8A4-7818-FEB4-0309182DBEC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Summary of Literature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871527-EAED-D60A-DB4D-12A2CE4201DE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3244C70-F5C8-803A-D19B-F1AF0F569128}"/>
              </a:ext>
            </a:extLst>
          </p:cNvPr>
          <p:cNvSpPr txBox="1"/>
          <p:nvPr/>
        </p:nvSpPr>
        <p:spPr>
          <a:xfrm>
            <a:off x="2792361" y="57036"/>
            <a:ext cx="9399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AccessGov: An AI-Powered Assistive Platform for Accessing and Navigating Government Services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703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0F88864-2E71-2992-AD53-E894883727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>
                <a:solidFill>
                  <a:srgbClr val="5583D1"/>
                </a:solidFill>
                <a:latin typeface="+mn-lt"/>
              </a:rPr>
              <a:t>Core Tech Stack: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LangChain (RAG), Ollama + Llama 3.18, </a:t>
            </a:r>
            <a:r>
              <a:rPr lang="en-US" b="0" dirty="0" err="1">
                <a:solidFill>
                  <a:srgbClr val="5583D1"/>
                </a:solidFill>
                <a:latin typeface="+mn-lt"/>
              </a:rPr>
              <a:t>ChromaDB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(Vector Store), </a:t>
            </a:r>
            <a:r>
              <a:rPr lang="en-US" b="0" dirty="0" err="1">
                <a:solidFill>
                  <a:srgbClr val="5583D1"/>
                </a:solidFill>
                <a:latin typeface="+mn-lt"/>
              </a:rPr>
              <a:t>FastAPI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(Backend), Streamlit (Frontend).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rgbClr val="5583D1"/>
                </a:solidFill>
                <a:latin typeface="+mn-lt"/>
              </a:rPr>
              <a:t>Storage &amp; DevOps: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PostgreSQL, </a:t>
            </a:r>
            <a:r>
              <a:rPr lang="en-US" b="0" dirty="0" err="1">
                <a:solidFill>
                  <a:srgbClr val="5583D1"/>
                </a:solidFill>
                <a:latin typeface="+mn-lt"/>
              </a:rPr>
              <a:t>MinIO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, Docker Compose, </a:t>
            </a:r>
            <a:r>
              <a:rPr lang="en-US" b="0" dirty="0" err="1">
                <a:solidFill>
                  <a:srgbClr val="5583D1"/>
                </a:solidFill>
                <a:latin typeface="+mn-lt"/>
              </a:rPr>
              <a:t>MLflow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(Tracking), GitHub Actions.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rgbClr val="5583D1"/>
                </a:solidFill>
                <a:latin typeface="+mn-lt"/>
              </a:rPr>
              <a:t>Dataset: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Knowledge base built by extracting data from government sources + a synthetic database to simulate real user questions for evaluation (Ragas).</a:t>
            </a:r>
            <a:endParaRPr lang="en-US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Additional Information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C1C21AB-07C4-8B78-9502-BEA4D864F6BE}"/>
              </a:ext>
            </a:extLst>
          </p:cNvPr>
          <p:cNvSpPr txBox="1"/>
          <p:nvPr/>
        </p:nvSpPr>
        <p:spPr>
          <a:xfrm>
            <a:off x="2792361" y="57036"/>
            <a:ext cx="9399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AccessGov: An AI-Powered Assistive Platform for Accessing and Navigating Government Services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GB" dirty="0">
                <a:solidFill>
                  <a:srgbClr val="5583D1"/>
                </a:solidFill>
                <a:latin typeface="Calibri (Body)"/>
              </a:rPr>
              <a:t>Module 1: </a:t>
            </a:r>
            <a:r>
              <a:rPr lang="en-GB" b="0" dirty="0">
                <a:solidFill>
                  <a:srgbClr val="5583D1"/>
                </a:solidFill>
                <a:latin typeface="Calibri (Body)"/>
              </a:rPr>
              <a:t>Document Parsing and Knowledge Base Construction: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GB" dirty="0">
                <a:solidFill>
                  <a:srgbClr val="5583D1"/>
                </a:solidFill>
                <a:latin typeface="Calibri (Body)"/>
              </a:rPr>
              <a:t>Extracting unstructured text from official government PDFs and chunking the data to build a highly organized, searchable knowledge base.</a:t>
            </a:r>
            <a:endParaRPr lang="en-US" b="0" dirty="0">
              <a:solidFill>
                <a:srgbClr val="5583D1"/>
              </a:solidFill>
              <a:latin typeface="Calibri (Body)"/>
            </a:endParaRP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Module 2: </a:t>
            </a:r>
            <a:r>
              <a:rPr lang="en-US" b="0" dirty="0">
                <a:solidFill>
                  <a:srgbClr val="5583D1"/>
                </a:solidFill>
                <a:latin typeface="Calibri (Body)"/>
              </a:rPr>
              <a:t>RAG Pipeline Setup (Hybrid Retrieval &amp; Reranking) 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GB" dirty="0">
                <a:solidFill>
                  <a:srgbClr val="5583D1"/>
                </a:solidFill>
                <a:latin typeface="Calibri (Body)"/>
              </a:rPr>
              <a:t>Implementing a hybrid retrieval system with vector databases and reranking to fetch the most accurate information, then synthesizing it into natural language using an LLM.</a:t>
            </a:r>
            <a:endParaRPr lang="en-US" b="0" dirty="0">
              <a:solidFill>
                <a:srgbClr val="5583D1"/>
              </a:solidFill>
              <a:latin typeface="Calibri (Body)"/>
            </a:endParaRP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Module 3:</a:t>
            </a:r>
            <a:r>
              <a:rPr lang="en-US" b="0" dirty="0">
                <a:solidFill>
                  <a:srgbClr val="5583D1"/>
                </a:solidFill>
                <a:latin typeface="Calibri (Body)"/>
              </a:rPr>
              <a:t> API Development &amp; Accessibility-Driven UI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GB" dirty="0">
                <a:solidFill>
                  <a:srgbClr val="5583D1"/>
                </a:solidFill>
                <a:latin typeface="Calibri (Body)"/>
              </a:rPr>
              <a:t>Building a robust backend API and an accessible frontend interface that features jargon-simplification (ELI5 mode), text-to-speech placeholders, and interactive form wizards for citizens.</a:t>
            </a:r>
            <a:endParaRPr lang="en-US" b="0" dirty="0">
              <a:solidFill>
                <a:srgbClr val="5583D1"/>
              </a:solidFill>
              <a:latin typeface="Calibri (Body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Modules to cover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D5B67-3503-60B5-8469-F3C3191D84D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80D0C5E-FAD5-8AD3-7A71-4993929CCD06}"/>
              </a:ext>
            </a:extLst>
          </p:cNvPr>
          <p:cNvSpPr txBox="1"/>
          <p:nvPr/>
        </p:nvSpPr>
        <p:spPr>
          <a:xfrm>
            <a:off x="2792361" y="57036"/>
            <a:ext cx="9399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AccessGov: An AI-Powered Assistive Platform for Accessing and Navigating Government Services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64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733489"/>
            <a:ext cx="10624338" cy="444565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5583D1"/>
                </a:solidFill>
                <a:latin typeface="+mn-lt"/>
              </a:rPr>
              <a:t>Subtopic - Data Extraction &amp; Vectorization</a:t>
            </a:r>
          </a:p>
          <a:p>
            <a:pPr lvl="1"/>
            <a:r>
              <a:rPr lang="en-US" sz="2800" dirty="0">
                <a:solidFill>
                  <a:srgbClr val="1C3898"/>
                </a:solidFill>
              </a:rPr>
              <a:t>Extracting unstructured textual data from official government PDFs using PyMuPDF. </a:t>
            </a:r>
          </a:p>
          <a:p>
            <a:pPr lvl="1"/>
            <a:r>
              <a:rPr lang="en-US" sz="2800" dirty="0">
                <a:solidFill>
                  <a:srgbClr val="1C3898"/>
                </a:solidFill>
              </a:rPr>
              <a:t>Chunking text effectively using Lang Chain's RecursiveCharacterTextSplitter. </a:t>
            </a:r>
          </a:p>
          <a:p>
            <a:pPr lvl="1"/>
            <a:r>
              <a:rPr lang="en-US" sz="2800" dirty="0">
                <a:solidFill>
                  <a:srgbClr val="1C3898"/>
                </a:solidFill>
              </a:rPr>
              <a:t>Generating embeddings and storing them in </a:t>
            </a:r>
            <a:r>
              <a:rPr lang="en-US" sz="2800" dirty="0" err="1">
                <a:solidFill>
                  <a:srgbClr val="1C3898"/>
                </a:solidFill>
              </a:rPr>
              <a:t>ChromaDB</a:t>
            </a:r>
            <a:r>
              <a:rPr lang="en-US" sz="2800" dirty="0">
                <a:solidFill>
                  <a:srgbClr val="1C3898"/>
                </a:solidFill>
              </a:rPr>
              <a:t> for fast semantic search.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name: </a:t>
            </a:r>
            <a:r>
              <a:rPr lang="en-GB" sz="3600" b="1" dirty="0">
                <a:solidFill>
                  <a:srgbClr val="5B9BD5">
                    <a:lumMod val="50000"/>
                  </a:srgbClr>
                </a:solidFill>
              </a:rPr>
              <a:t>Document Parsing &amp; Knowledge Base Construction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50A6363-C8D2-06AF-FD71-D5B40487A089}"/>
              </a:ext>
            </a:extLst>
          </p:cNvPr>
          <p:cNvSpPr txBox="1"/>
          <p:nvPr/>
        </p:nvSpPr>
        <p:spPr>
          <a:xfrm>
            <a:off x="2792361" y="57036"/>
            <a:ext cx="9399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AccessGov: An AI-Powered Assistive Platform for Accessing and Navigating Government Services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613279" y="1863675"/>
            <a:ext cx="13418557" cy="7441200"/>
          </a:xfrm>
          <a:custGeom>
            <a:avLst/>
            <a:gdLst/>
            <a:ahLst/>
            <a:cxnLst/>
            <a:rect l="l" t="t" r="r" b="b"/>
            <a:pathLst>
              <a:path w="20127836" h="11161800">
                <a:moveTo>
                  <a:pt x="0" y="0"/>
                </a:moveTo>
                <a:lnTo>
                  <a:pt x="20127836" y="0"/>
                </a:lnTo>
                <a:lnTo>
                  <a:pt x="20127836" y="11161800"/>
                </a:lnTo>
                <a:lnTo>
                  <a:pt x="0" y="11161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1200"/>
          </a:p>
        </p:txBody>
      </p:sp>
      <p:sp>
        <p:nvSpPr>
          <p:cNvPr id="3" name="TextBox 3"/>
          <p:cNvSpPr txBox="1"/>
          <p:nvPr/>
        </p:nvSpPr>
        <p:spPr>
          <a:xfrm>
            <a:off x="1992147" y="1761097"/>
            <a:ext cx="8207706" cy="1752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967"/>
              </a:lnSpc>
            </a:pPr>
            <a:r>
              <a:rPr lang="en-US" sz="10615" b="1" dirty="0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743</Words>
  <Application>Microsoft Office PowerPoint</Application>
  <PresentationFormat>Widescreen</PresentationFormat>
  <Paragraphs>66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(Body)</vt:lpstr>
      <vt:lpstr>Frutiger 45 bold</vt:lpstr>
      <vt:lpstr>Frutiger LT Pro 45 Light</vt:lpstr>
      <vt:lpstr>Montserrat Bold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Rahi Sanxipt Mehta</cp:lastModifiedBy>
  <cp:revision>18</cp:revision>
  <dcterms:created xsi:type="dcterms:W3CDTF">2024-05-13T10:33:11Z</dcterms:created>
  <dcterms:modified xsi:type="dcterms:W3CDTF">2026-09-11T05:13:44Z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