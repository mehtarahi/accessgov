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8" r:id="rId6"/>
    <p:sldId id="2147470496" r:id="rId7"/>
    <p:sldId id="2147470497" r:id="rId8"/>
    <p:sldId id="2147470491" r:id="rId9"/>
    <p:sldId id="2147470487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latin typeface="Calibri (Body)"/>
                <a:cs typeface="Calibri" panose="020F0502020204030204" pitchFamily="34" charset="0"/>
              </a:rPr>
              <a:t>AccessGov - </a:t>
            </a:r>
            <a:r>
              <a:rPr lang="en-GB" sz="3600" b="1" dirty="0">
                <a:solidFill>
                  <a:prstClr val="white"/>
                </a:solidFill>
                <a:latin typeface="Calibri (Body)"/>
                <a:cs typeface="Calibri" panose="020F0502020204030204" pitchFamily="34" charset="0"/>
              </a:rPr>
              <a:t>An AI-Powered Assistive Platform for Accessing and Navigating Government Services</a:t>
            </a:r>
            <a:endParaRPr lang="en-US" sz="3600" b="1" dirty="0">
              <a:solidFill>
                <a:prstClr val="white"/>
              </a:solidFill>
              <a:latin typeface="Calibri (Body)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(Body)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latin typeface="Calibri (Body)"/>
                <a:cs typeface="Calibri" panose="020F0502020204030204" pitchFamily="34" charset="0"/>
              </a:rPr>
              <a:t>Rahi Sanxipt Mehta</a:t>
            </a:r>
          </a:p>
          <a:p>
            <a:pPr lvl="0" algn="ctr">
              <a:defRPr/>
            </a:pPr>
            <a:r>
              <a:rPr lang="en-US" sz="2400" b="1">
                <a:solidFill>
                  <a:prstClr val="white"/>
                </a:solidFill>
                <a:latin typeface="Calibri (Body)"/>
                <a:cs typeface="Calibri" panose="020F0502020204030204" pitchFamily="34" charset="0"/>
              </a:rPr>
              <a:t>VIT Chennai</a:t>
            </a:r>
            <a:endParaRPr lang="en-US" sz="2400" b="1" dirty="0">
              <a:solidFill>
                <a:prstClr val="white"/>
              </a:solidFill>
              <a:latin typeface="Calibri (Body)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 descr="LTM Limited logo (transparent PNG)">
            <a:extLst>
              <a:ext uri="{FF2B5EF4-FFF2-40B4-BE49-F238E27FC236}">
                <a16:creationId xmlns:a16="http://schemas.microsoft.com/office/drawing/2014/main" id="{4130594E-6B5C-A6BA-3ABE-A7992F146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0" y="5883180"/>
            <a:ext cx="3180375" cy="84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Government services often involve complex procedures, lengthy documents, fragmented information, and difficult terminology.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This makes them challenging for citizens to understand and navigate, especially for those with accessibility or information-literacy barriers.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I am addressing this by building a RAG-based model to retrieve relevant information, then simplifying and organizing it using an LLM to make authoritative government data clear and accessible.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792361" y="57036"/>
            <a:ext cx="9399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i="1" dirty="0">
                <a:solidFill>
                  <a:srgbClr val="FFFFFF"/>
                </a:solidFill>
              </a:rPr>
              <a:t>AccessGov: An AI-Powered Assistive Platform for Accessing and Navigating Government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Build an authoritative government knowledge base extracted from official sources. </a:t>
            </a:r>
          </a:p>
          <a:p>
            <a:pPr>
              <a:lnSpc>
                <a:spcPct val="10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Develop a RAG-based information assistant for semantic retrieval. </a:t>
            </a:r>
          </a:p>
          <a:p>
            <a:pPr>
              <a:lnSpc>
                <a:spcPct val="10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Make complex government information and procedures highly accessible. </a:t>
            </a:r>
          </a:p>
          <a:p>
            <a:pPr>
              <a:lnSpc>
                <a:spcPct val="10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Help users seamlessly navigate and complete bureaucratic procedures step-by-step.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D4532F-D1AA-E8F5-291C-8A9D0DF14799}"/>
              </a:ext>
            </a:extLst>
          </p:cNvPr>
          <p:cNvSpPr txBox="1"/>
          <p:nvPr/>
        </p:nvSpPr>
        <p:spPr>
          <a:xfrm>
            <a:off x="2792361" y="57036"/>
            <a:ext cx="9399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i="1" dirty="0">
                <a:solidFill>
                  <a:srgbClr val="FFFFFF"/>
                </a:solidFill>
              </a:rPr>
              <a:t>AccessGov: An AI-Powered Assistive Platform for Accessing and Navigating Government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>
                <a:solidFill>
                  <a:srgbClr val="5583D1"/>
                </a:solidFill>
                <a:latin typeface="+mn-lt"/>
              </a:rPr>
              <a:t>System Capabilities: 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A web application where users can ask questions in natural language, find relevant government services, and identify required documents. </a:t>
            </a: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rgbClr val="5583D1"/>
                </a:solidFill>
                <a:latin typeface="+mn-lt"/>
              </a:rPr>
              <a:t>Accessibility Focus: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 Convert complex bureaucratic processes into an understandable, accessible form with strict source citations. </a:t>
            </a: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rgbClr val="5583D1"/>
                </a:solidFill>
                <a:latin typeface="+mn-lt"/>
              </a:rPr>
              <a:t>Exclusions: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 The system acts as an assistive information guide and will not directly process or submit legal applications on behalf of the user.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4C21C24-4796-2D5E-0483-49ACD14B8DC2}"/>
              </a:ext>
            </a:extLst>
          </p:cNvPr>
          <p:cNvSpPr txBox="1"/>
          <p:nvPr/>
        </p:nvSpPr>
        <p:spPr>
          <a:xfrm>
            <a:off x="2792361" y="57036"/>
            <a:ext cx="9399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i="1" dirty="0">
                <a:solidFill>
                  <a:srgbClr val="FFFFFF"/>
                </a:solidFill>
              </a:rPr>
              <a:t>AccessGov: An AI-Powered Assistive Platform for Accessing and Navigating Government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763BE9-FEFC-27A8-4FFA-56D3AB575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304720"/>
              </p:ext>
            </p:extLst>
          </p:nvPr>
        </p:nvGraphicFramePr>
        <p:xfrm>
          <a:off x="221274" y="1329266"/>
          <a:ext cx="1174458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2292">
                  <a:extLst>
                    <a:ext uri="{9D8B030D-6E8A-4147-A177-3AD203B41FA5}">
                      <a16:colId xmlns:a16="http://schemas.microsoft.com/office/drawing/2014/main" val="4252064122"/>
                    </a:ext>
                  </a:extLst>
                </a:gridCol>
                <a:gridCol w="5872292">
                  <a:extLst>
                    <a:ext uri="{9D8B030D-6E8A-4147-A177-3AD203B41FA5}">
                      <a16:colId xmlns:a16="http://schemas.microsoft.com/office/drawing/2014/main" val="14587417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6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Paper </a:t>
                      </a:r>
                      <a:endParaRPr lang="en-IN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Summary</a:t>
                      </a:r>
                      <a:endParaRPr lang="en-IN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6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i="0" dirty="0"/>
                        <a:t>Bridging Citizens and Public Services with RAG (2026)</a:t>
                      </a:r>
                      <a:endParaRPr lang="en-IN" sz="18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i="0" dirty="0"/>
                        <a:t>Proves that RAG can successfully associate natural language citizen queries with complex bureaucratic services, improving portal accessibility.</a:t>
                      </a:r>
                      <a:endParaRPr lang="en-IN" sz="18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544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Retrieval-Augmented Governance (2025)</a:t>
                      </a:r>
                      <a:endParaRPr lang="en-IN" sz="18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Highlights the need for "governance-by-design" by integrating strict audit trails and source validation to ensure AI explanations are verifiable.</a:t>
                      </a:r>
                      <a:endParaRPr lang="en-IN" sz="18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124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Evaluating Faithfulness in Agentic RAG Systems for e-Governance (2025):</a:t>
                      </a:r>
                      <a:endParaRPr lang="en-IN" sz="18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i="0" dirty="0"/>
                        <a:t>Emphasizes hallucination mitigation in high-stakes government applications by using Agentic models and rigorous evaluation frameworks.</a:t>
                      </a:r>
                      <a:endParaRPr lang="en-IN" sz="18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84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Resource-efficient RAG for the Indian Lok Sabha dataset (2025)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Demonstrates that RAG can effectively parse massive, unstructured Indian legislative archives to make them easily readable for the public.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333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A5B25B6-A34E-8D66-09FC-ED9E491CFA73}"/>
              </a:ext>
            </a:extLst>
          </p:cNvPr>
          <p:cNvSpPr txBox="1"/>
          <p:nvPr/>
        </p:nvSpPr>
        <p:spPr>
          <a:xfrm>
            <a:off x="2792361" y="57036"/>
            <a:ext cx="9399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i="1" dirty="0">
                <a:solidFill>
                  <a:srgbClr val="FFFFFF"/>
                </a:solidFill>
              </a:rPr>
              <a:t>AccessGov: An AI-Powered Assistive Platform for Accessing and Navigating Government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532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11539" cy="414298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Calibri (Body)"/>
                <a:ea typeface="Calibri" panose="020F0502020204030204" pitchFamily="34" charset="0"/>
              </a:rPr>
              <a:t>Current e-governance systems rely on rigid searches and dense PDFs, creating significant accessibility barriers for citizens.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Calibri (Body)"/>
                <a:ea typeface="Calibri" panose="020F0502020204030204" pitchFamily="34" charset="0"/>
              </a:rPr>
              <a:t>Recent research (2025-2026) highlights a major shift toward Retrieval-Augmented Generation (RAG) to provide intuitive, conversational search capabilities for public services.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Calibri (Body)"/>
                <a:ea typeface="Calibri" panose="020F0502020204030204" pitchFamily="34" charset="0"/>
              </a:rPr>
              <a:t>Because public sector accuracy is critical, studies strongly emphasize the need for robust hallucination mitigation and transparent source citations.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Calibri (Body)"/>
                <a:ea typeface="Calibri" panose="020F0502020204030204" pitchFamily="34" charset="0"/>
              </a:rPr>
              <a:t>AccessGov directly aligns with these findings by delivering an accessible interface powered by a highly verifiable, citation-backed RAG pipeline.</a:t>
            </a:r>
            <a:endParaRPr lang="en-US" b="0" dirty="0">
              <a:solidFill>
                <a:srgbClr val="5583D1"/>
              </a:solidFill>
              <a:latin typeface="Calibri (Body)"/>
              <a:ea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3244C70-F5C8-803A-D19B-F1AF0F569128}"/>
              </a:ext>
            </a:extLst>
          </p:cNvPr>
          <p:cNvSpPr txBox="1"/>
          <p:nvPr/>
        </p:nvSpPr>
        <p:spPr>
          <a:xfrm>
            <a:off x="2792361" y="57036"/>
            <a:ext cx="9399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i="1" dirty="0">
                <a:solidFill>
                  <a:srgbClr val="FFFFFF"/>
                </a:solidFill>
              </a:rPr>
              <a:t>AccessGov: An AI-Powered Assistive Platform for Accessing and Navigating Government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583D1"/>
                </a:solidFill>
                <a:latin typeface="+mn-lt"/>
              </a:rPr>
              <a:t>Core Tech Stack: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 LangChain (RAG), Ollama + Llama 3.18, </a:t>
            </a:r>
            <a:r>
              <a:rPr lang="en-US" b="0" dirty="0" err="1">
                <a:solidFill>
                  <a:srgbClr val="5583D1"/>
                </a:solidFill>
                <a:latin typeface="+mn-lt"/>
              </a:rPr>
              <a:t>ChromaDB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 (Vector Store), </a:t>
            </a:r>
            <a:r>
              <a:rPr lang="en-US" b="0" dirty="0" err="1">
                <a:solidFill>
                  <a:srgbClr val="5583D1"/>
                </a:solidFill>
                <a:latin typeface="+mn-lt"/>
              </a:rPr>
              <a:t>FastAPI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 (Backend), Streamlit (Frontend).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5583D1"/>
                </a:solidFill>
                <a:latin typeface="+mn-lt"/>
              </a:rPr>
              <a:t>Storage &amp; DevOps: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 PostgreSQL, </a:t>
            </a:r>
            <a:r>
              <a:rPr lang="en-US" b="0" dirty="0" err="1">
                <a:solidFill>
                  <a:srgbClr val="5583D1"/>
                </a:solidFill>
                <a:latin typeface="+mn-lt"/>
              </a:rPr>
              <a:t>MinIO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, Docker Compose, </a:t>
            </a:r>
            <a:r>
              <a:rPr lang="en-US" b="0" dirty="0" err="1">
                <a:solidFill>
                  <a:srgbClr val="5583D1"/>
                </a:solidFill>
                <a:latin typeface="+mn-lt"/>
              </a:rPr>
              <a:t>MLflow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 (Tracking), GitHub Actions.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5583D1"/>
                </a:solidFill>
                <a:latin typeface="+mn-lt"/>
              </a:rPr>
              <a:t>Dataset: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 Knowledge base built by extracting data from government sources + a synthetic database to simulate real user questions for evaluation (Ragas).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C1C21AB-07C4-8B78-9502-BEA4D864F6BE}"/>
              </a:ext>
            </a:extLst>
          </p:cNvPr>
          <p:cNvSpPr txBox="1"/>
          <p:nvPr/>
        </p:nvSpPr>
        <p:spPr>
          <a:xfrm>
            <a:off x="2792361" y="57036"/>
            <a:ext cx="9399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i="1" dirty="0">
                <a:solidFill>
                  <a:srgbClr val="FFFFFF"/>
                </a:solidFill>
              </a:rPr>
              <a:t>AccessGov: An AI-Powered Assistive Platform for Accessing and Navigating Government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dirty="0">
                <a:solidFill>
                  <a:srgbClr val="5583D1"/>
                </a:solidFill>
                <a:latin typeface="Calibri (Body)"/>
              </a:rPr>
              <a:t>Module 1: </a:t>
            </a:r>
            <a:r>
              <a:rPr lang="en-GB" b="0" dirty="0">
                <a:solidFill>
                  <a:srgbClr val="5583D1"/>
                </a:solidFill>
                <a:latin typeface="Calibri (Body)"/>
              </a:rPr>
              <a:t>Document Parsing and Knowledge Base Construction: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GB" dirty="0">
                <a:solidFill>
                  <a:srgbClr val="5583D1"/>
                </a:solidFill>
                <a:latin typeface="Calibri (Body)"/>
              </a:rPr>
              <a:t>Extracting unstructured text from official government PDFs and chunking the data to build a highly organized, searchable knowledge base.</a:t>
            </a:r>
            <a:endParaRPr lang="en-US" b="0" dirty="0">
              <a:solidFill>
                <a:srgbClr val="5583D1"/>
              </a:solidFill>
              <a:latin typeface="Calibri (Body)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  <a:latin typeface="Calibri (Body)"/>
              </a:rPr>
              <a:t>Module 2: </a:t>
            </a:r>
            <a:r>
              <a:rPr lang="en-US" b="0" dirty="0">
                <a:solidFill>
                  <a:srgbClr val="5583D1"/>
                </a:solidFill>
                <a:latin typeface="Calibri (Body)"/>
              </a:rPr>
              <a:t>RAG Pipeline Setup (Hybrid Retrieval &amp; Reranking)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GB" dirty="0">
                <a:solidFill>
                  <a:srgbClr val="5583D1"/>
                </a:solidFill>
                <a:latin typeface="Calibri (Body)"/>
              </a:rPr>
              <a:t>Implementing a hybrid retrieval system with vector databases and reranking to fetch the most accurate information, then synthesizing it into natural language using an LLM.</a:t>
            </a:r>
            <a:endParaRPr lang="en-US" b="0" dirty="0">
              <a:solidFill>
                <a:srgbClr val="5583D1"/>
              </a:solidFill>
              <a:latin typeface="Calibri (Body)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  <a:latin typeface="Calibri (Body)"/>
              </a:rPr>
              <a:t>Module 3:</a:t>
            </a:r>
            <a:r>
              <a:rPr lang="en-US" b="0" dirty="0">
                <a:solidFill>
                  <a:srgbClr val="5583D1"/>
                </a:solidFill>
                <a:latin typeface="Calibri (Body)"/>
              </a:rPr>
              <a:t> API Development &amp; Accessibility-Driven UI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GB" dirty="0">
                <a:solidFill>
                  <a:srgbClr val="5583D1"/>
                </a:solidFill>
                <a:latin typeface="Calibri (Body)"/>
              </a:rPr>
              <a:t>Building a robust backend API and an accessible frontend interface that features jargon-simplification (ELI5 mode), text-to-speech placeholders, and interactive form wizards for citizens.</a:t>
            </a:r>
            <a:endParaRPr lang="en-US" b="0" dirty="0">
              <a:solidFill>
                <a:srgbClr val="5583D1"/>
              </a:solidFill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80D0C5E-FAD5-8AD3-7A71-4993929CCD06}"/>
              </a:ext>
            </a:extLst>
          </p:cNvPr>
          <p:cNvSpPr txBox="1"/>
          <p:nvPr/>
        </p:nvSpPr>
        <p:spPr>
          <a:xfrm>
            <a:off x="2792361" y="57036"/>
            <a:ext cx="9399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i="1" dirty="0">
                <a:solidFill>
                  <a:srgbClr val="FFFFFF"/>
                </a:solidFill>
              </a:rPr>
              <a:t>AccessGov: An AI-Powered Assistive Platform for Accessing and Navigating Government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733489"/>
            <a:ext cx="10624338" cy="4445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 - Data Extraction &amp; Vectorization</a:t>
            </a:r>
          </a:p>
          <a:p>
            <a:pPr lvl="1"/>
            <a:r>
              <a:rPr lang="en-US" sz="2800" dirty="0">
                <a:solidFill>
                  <a:srgbClr val="1C3898"/>
                </a:solidFill>
              </a:rPr>
              <a:t>Extracting unstructured textual data from official government PDFs using PyMuPDF. </a:t>
            </a:r>
          </a:p>
          <a:p>
            <a:pPr lvl="1"/>
            <a:r>
              <a:rPr lang="en-US" sz="2800" dirty="0">
                <a:solidFill>
                  <a:srgbClr val="1C3898"/>
                </a:solidFill>
              </a:rPr>
              <a:t>Chunking text effectively using Lang Chain's RecursiveCharacterTextSplitter. </a:t>
            </a:r>
          </a:p>
          <a:p>
            <a:pPr lvl="1"/>
            <a:r>
              <a:rPr lang="en-US" sz="2800" dirty="0">
                <a:solidFill>
                  <a:srgbClr val="1C3898"/>
                </a:solidFill>
              </a:rPr>
              <a:t>Generating embeddings and storing them in </a:t>
            </a:r>
            <a:r>
              <a:rPr lang="en-US" sz="2800" dirty="0" err="1">
                <a:solidFill>
                  <a:srgbClr val="1C3898"/>
                </a:solidFill>
              </a:rPr>
              <a:t>ChromaDB</a:t>
            </a:r>
            <a:r>
              <a:rPr lang="en-US" sz="2800" dirty="0">
                <a:solidFill>
                  <a:srgbClr val="1C3898"/>
                </a:solidFill>
              </a:rPr>
              <a:t> for fast semantic search.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name: </a:t>
            </a:r>
            <a:r>
              <a:rPr lang="en-GB" sz="3600" b="1" dirty="0">
                <a:solidFill>
                  <a:srgbClr val="5B9BD5">
                    <a:lumMod val="50000"/>
                  </a:srgbClr>
                </a:solidFill>
              </a:rPr>
              <a:t>Document Parsing &amp; Knowledge Base Construction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50A6363-C8D2-06AF-FD71-D5B40487A089}"/>
              </a:ext>
            </a:extLst>
          </p:cNvPr>
          <p:cNvSpPr txBox="1"/>
          <p:nvPr/>
        </p:nvSpPr>
        <p:spPr>
          <a:xfrm>
            <a:off x="2792361" y="57036"/>
            <a:ext cx="9399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i="1" dirty="0">
                <a:solidFill>
                  <a:srgbClr val="FFFFFF"/>
                </a:solidFill>
              </a:rPr>
              <a:t>AccessGov: An AI-Powered Assistive Platform for Accessing and Navigating Government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13279" y="1863675"/>
            <a:ext cx="13418557" cy="7441200"/>
          </a:xfrm>
          <a:custGeom>
            <a:avLst/>
            <a:gdLst/>
            <a:ahLst/>
            <a:cxnLst/>
            <a:rect l="l" t="t" r="r" b="b"/>
            <a:pathLst>
              <a:path w="20127836" h="11161800">
                <a:moveTo>
                  <a:pt x="0" y="0"/>
                </a:moveTo>
                <a:lnTo>
                  <a:pt x="20127836" y="0"/>
                </a:lnTo>
                <a:lnTo>
                  <a:pt x="20127836" y="11161800"/>
                </a:lnTo>
                <a:lnTo>
                  <a:pt x="0" y="11161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3" name="TextBox 3"/>
          <p:cNvSpPr txBox="1"/>
          <p:nvPr/>
        </p:nvSpPr>
        <p:spPr>
          <a:xfrm>
            <a:off x="1992147" y="1761097"/>
            <a:ext cx="8207706" cy="1752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67"/>
              </a:lnSpc>
            </a:pPr>
            <a:r>
              <a:rPr lang="en-US" sz="10615" b="1" dirty="0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745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(Body)</vt:lpstr>
      <vt:lpstr>Frutiger 45 bold</vt:lpstr>
      <vt:lpstr>Frutiger LT Pro 45 Light</vt:lpstr>
      <vt:lpstr>Montserrat Bold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Rahi Sanxipt Mehta</cp:lastModifiedBy>
  <cp:revision>19</cp:revision>
  <dcterms:created xsi:type="dcterms:W3CDTF">2024-05-13T10:33:11Z</dcterms:created>
  <dcterms:modified xsi:type="dcterms:W3CDTF">2026-09-11T05:27:28Z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